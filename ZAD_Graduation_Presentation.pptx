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688543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4114800"/>
            <a:ext cx="3200400" cy="320040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-457200"/>
            <a:ext cx="3657600" cy="3657600"/>
          </a:xfrm>
          <a:prstGeom prst="ellipse">
            <a:avLst/>
          </a:prstGeom>
          <a:solidFill>
            <a:srgbClr val="D1FAE5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4572000"/>
            <a:ext cx="2743200" cy="274320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8" name="Image 0" descr="d:\ZAD\zad_app\assets\images\za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548640"/>
            <a:ext cx="256032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2918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ZAD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27432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منصة ذكية لإنقاذ الطعام وتقليل الهدر الغذائي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617720"/>
            <a:ext cx="42062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577840" y="457200"/>
            <a:ext cx="6263640" cy="598932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69280" y="685800"/>
            <a:ext cx="6080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69280" y="107899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Birzeit University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0" y="1481328"/>
            <a:ext cx="36576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158191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كلية تكنولوجيا المعلومات وهندسة الحاسوب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0" y="1920240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قسم علم الحاسوب  |  مشروع التخرج 2025–2026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52160" y="2377440"/>
            <a:ext cx="5715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2487168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فريق العمل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852160" y="2944368"/>
            <a:ext cx="5577840" cy="530352"/>
          </a:xfrm>
          <a:prstGeom prst="roundRect">
            <a:avLst>
              <a:gd name="adj" fmla="val 17241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863840" y="3054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رهف زيادة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897880" y="3063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1221253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852160" y="3602736"/>
            <a:ext cx="5577840" cy="530352"/>
          </a:xfrm>
          <a:prstGeom prst="roundRect">
            <a:avLst>
              <a:gd name="adj" fmla="val 17241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863840" y="371246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هلا بريغيث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3721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1211002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852160" y="4261104"/>
            <a:ext cx="5577840" cy="530352"/>
          </a:xfrm>
          <a:prstGeom prst="roundRect">
            <a:avLst>
              <a:gd name="adj" fmla="val 17241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863840" y="437083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ساديل إرحيمي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897880" y="43799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1211299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852160" y="4956048"/>
            <a:ext cx="57150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7"/>
          <p:cNvSpPr/>
          <p:nvPr/>
        </p:nvSpPr>
        <p:spPr>
          <a:xfrm>
            <a:off x="5669280" y="5065776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المشرفة: د. نعيمة هرباوي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669280" y="5394960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Dr. Naima Herbawi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6510528"/>
            <a:ext cx="530352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0"/>
          <p:cNvSpPr/>
          <p:nvPr/>
        </p:nvSpPr>
        <p:spPr>
          <a:xfrm>
            <a:off x="274320" y="65562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– 2026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03520" y="6510528"/>
            <a:ext cx="6885432" cy="34747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Shape 32"/>
          <p:cNvSpPr/>
          <p:nvPr/>
        </p:nvSpPr>
        <p:spPr>
          <a:xfrm>
            <a:off x="5303520" y="6510528"/>
            <a:ext cx="688543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5394960" y="6556248"/>
            <a:ext cx="6702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مشروع التخرج  |  Graduation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المشكلة  |  Problem Statement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667512"/>
            <a:ext cx="3749040" cy="1965960"/>
          </a:xfrm>
          <a:prstGeom prst="roundRect">
            <a:avLst>
              <a:gd name="adj" fmla="val 8372"/>
            </a:avLst>
          </a:prstGeom>
          <a:solidFill>
            <a:srgbClr val="FEE2E2"/>
          </a:solidFill>
          <a:ln/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731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" y="13075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1/3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5760" y="1920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الطعام المنتج عالمياً يُهدر يومياً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667512"/>
            <a:ext cx="3749040" cy="1965960"/>
          </a:xfrm>
          <a:prstGeom prst="roundRect">
            <a:avLst>
              <a:gd name="adj" fmla="val 8372"/>
            </a:avLst>
          </a:prstGeom>
          <a:solidFill>
            <a:srgbClr val="FEF3C7"/>
          </a:solidFill>
          <a:ln/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51960" y="731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🌡️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251960" y="13075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8–10%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343400" y="1920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انبعاثات الغازات الدفيئة سببها الهدر الغذائي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667512"/>
            <a:ext cx="3749040" cy="1965960"/>
          </a:xfrm>
          <a:prstGeom prst="roundRect">
            <a:avLst>
              <a:gd name="adj" fmla="val 8372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0" y="731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29600" y="13075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$1T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321040" y="1920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خسارة اقتصادية سنوية جراء هدر الطعام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770632"/>
            <a:ext cx="3749040" cy="2011680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11480" y="33649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يوجد منصة محلية موحّدة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84048" y="3749040"/>
            <a:ext cx="3529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الحلول المتاحة عالمية ولا تتوافق مع السياق الفلسطيني المحلي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3749040" cy="2011680"/>
          </a:xfrm>
          <a:prstGeom prst="roundRect">
            <a:avLst>
              <a:gd name="adj" fmla="val 6818"/>
            </a:avLst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5196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389120" y="33649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تجاهل المنازل والجمعيات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361688" y="3749040"/>
            <a:ext cx="3529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معظم التطبيقات تستهدف المطاعم فقط دون إشراك الأفراد والجمعيات الخيرية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2770632"/>
            <a:ext cx="3749040" cy="2011680"/>
          </a:xfrm>
          <a:prstGeom prst="roundRect">
            <a:avLst>
              <a:gd name="adj" fmla="val 6818"/>
            </a:avLst>
          </a:prstGeom>
          <a:solidFill>
            <a:srgbClr val="FEF3C7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366760" y="33649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غياب الرقابة والحوكمة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39328" y="3749040"/>
            <a:ext cx="3529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يوجد نظام إداري لضمان العدالة في التوزيع ومنع التضارب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الأهداف  |  Objectives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786384"/>
            <a:ext cx="557784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786384"/>
            <a:ext cx="201168" cy="1298448"/>
          </a:xfrm>
          <a:prstGeom prst="roundRect">
            <a:avLst>
              <a:gd name="adj" fmla="val 45455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0424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♻️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1208" y="91440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تقليل هدر الطعام في المطاعم والمنازل من خلال إعادة توزيعه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786384"/>
            <a:ext cx="557784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786384"/>
            <a:ext cx="201168" cy="1298448"/>
          </a:xfrm>
          <a:prstGeom prst="roundRect">
            <a:avLst>
              <a:gd name="adj" fmla="val 45455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56248" y="10424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56248" y="91440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توفير منصة رقمية موحّدة تربط المطاعم والأفراد بالجمعيات الخيرية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28600" y="2267712"/>
            <a:ext cx="557784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267712"/>
            <a:ext cx="201168" cy="1298448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2523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21208" y="2395728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تنظيم التبرعات والحجوزات بإجراءات واضحة تمنع التضارب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2267712"/>
            <a:ext cx="557784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2267712"/>
            <a:ext cx="201168" cy="1298448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2523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56248" y="2395728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إنشاء نظام إداري لمراقبة العمليات وحل النزاعات وضمان الجودة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28600" y="3749040"/>
            <a:ext cx="557784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749040"/>
            <a:ext cx="201168" cy="1298448"/>
          </a:xfrm>
          <a:prstGeom prst="roundRect">
            <a:avLst>
              <a:gd name="adj" fmla="val 45455"/>
            </a:avLst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4005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💚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21208" y="38770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تمكين الحصول على الطعام مجاناً أو بسعر رمزي مع الحفاظ على كرامة المستفيدين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263640" y="3749040"/>
            <a:ext cx="557784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749040"/>
            <a:ext cx="201168" cy="1298448"/>
          </a:xfrm>
          <a:prstGeom prst="roundRect">
            <a:avLst>
              <a:gd name="adj" fmla="val 45455"/>
            </a:avLst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556248" y="4005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556248" y="387705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بناء نظام قابل للتوسع والتطوير المستدام مستقبلاً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مقارنة الحلول الموجودة  |  Existing Solutions Comparison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10412" y="731520"/>
            <a:ext cx="3017520" cy="4206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056132" y="7680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الميزة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7932" y="731520"/>
            <a:ext cx="1389888" cy="4206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073652" y="76809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17820" y="731520"/>
            <a:ext cx="1600200" cy="4206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463540" y="7680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Too Good To Go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18020" y="731520"/>
            <a:ext cx="1188720" cy="4206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7063740" y="7680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OLIO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06740" y="731520"/>
            <a:ext cx="1508760" cy="4206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52460" y="7680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Forsa MENA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15500" y="731520"/>
            <a:ext cx="1463040" cy="4206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9761220" y="7680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Lhaq Halak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0412" y="1152144"/>
            <a:ext cx="3017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6988" y="1207008"/>
            <a:ext cx="29443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المنطقة المستهدفة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27932" y="1152144"/>
            <a:ext cx="1389888" cy="374904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4508" y="1207008"/>
            <a:ext cx="13167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فلسطين 🇵🇸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17820" y="1152144"/>
            <a:ext cx="16002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4396" y="1207008"/>
            <a:ext cx="1527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أوروبا / USA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18020" y="1152144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4596" y="1207008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عالمي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06740" y="1152144"/>
            <a:ext cx="15087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3316" y="1207008"/>
            <a:ext cx="1435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MENA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715500" y="1152144"/>
            <a:ext cx="1463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52076" y="1207008"/>
            <a:ext cx="13898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بيت لحم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10412" y="1527048"/>
            <a:ext cx="301752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6988" y="1581912"/>
            <a:ext cx="29443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المطاعم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27932" y="1527048"/>
            <a:ext cx="1389888" cy="37490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4508" y="1581912"/>
            <a:ext cx="13167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17820" y="1527048"/>
            <a:ext cx="160020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54396" y="1581912"/>
            <a:ext cx="1527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018020" y="1527048"/>
            <a:ext cx="118872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4596" y="1581912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⚠️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06740" y="1527048"/>
            <a:ext cx="150876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43316" y="1581912"/>
            <a:ext cx="1435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⚠️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715500" y="1527048"/>
            <a:ext cx="146304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52076" y="1581912"/>
            <a:ext cx="13898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⚠️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10412" y="1901952"/>
            <a:ext cx="3017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6988" y="1956816"/>
            <a:ext cx="29443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الأفراد كمانحين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027932" y="1901952"/>
            <a:ext cx="1389888" cy="374904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4508" y="1956816"/>
            <a:ext cx="13167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17820" y="1901952"/>
            <a:ext cx="16002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54396" y="1956816"/>
            <a:ext cx="1527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018020" y="1901952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4596" y="1956816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206740" y="1901952"/>
            <a:ext cx="15087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43316" y="1956816"/>
            <a:ext cx="1435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715500" y="1901952"/>
            <a:ext cx="1463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52076" y="1956816"/>
            <a:ext cx="13898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010412" y="2276856"/>
            <a:ext cx="301752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6988" y="2331720"/>
            <a:ext cx="29443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الجمعيات الخيرية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027932" y="2276856"/>
            <a:ext cx="1389888" cy="37490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64508" y="2331720"/>
            <a:ext cx="13167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417820" y="2276856"/>
            <a:ext cx="160020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54396" y="2331720"/>
            <a:ext cx="1527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018020" y="2276856"/>
            <a:ext cx="118872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54596" y="2331720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206740" y="2276856"/>
            <a:ext cx="150876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43316" y="2331720"/>
            <a:ext cx="1435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715500" y="2276856"/>
            <a:ext cx="146304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52076" y="2331720"/>
            <a:ext cx="13898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010412" y="2651760"/>
            <a:ext cx="3017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46988" y="2706624"/>
            <a:ext cx="29443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تبرعات مجانية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027932" y="2651760"/>
            <a:ext cx="1389888" cy="374904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64508" y="2706624"/>
            <a:ext cx="13167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417820" y="2651760"/>
            <a:ext cx="16002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54396" y="2706624"/>
            <a:ext cx="1527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018020" y="2651760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54596" y="2706624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206740" y="2651760"/>
            <a:ext cx="15087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43316" y="2706624"/>
            <a:ext cx="1435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9715500" y="2651760"/>
            <a:ext cx="1463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752076" y="2706624"/>
            <a:ext cx="13898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1010412" y="3026664"/>
            <a:ext cx="301752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46988" y="3081528"/>
            <a:ext cx="29443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استلام بـ QR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027932" y="3026664"/>
            <a:ext cx="1389888" cy="37490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64508" y="3081528"/>
            <a:ext cx="13167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5417820" y="3026664"/>
            <a:ext cx="160020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54396" y="3081528"/>
            <a:ext cx="1527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7018020" y="3026664"/>
            <a:ext cx="118872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54596" y="3081528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8206740" y="3026664"/>
            <a:ext cx="150876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43316" y="3081528"/>
            <a:ext cx="1435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9715500" y="3026664"/>
            <a:ext cx="146304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52076" y="3081528"/>
            <a:ext cx="13898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1010412" y="3401568"/>
            <a:ext cx="3017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46988" y="3456432"/>
            <a:ext cx="29443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دفع إلكتروني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4027932" y="3401568"/>
            <a:ext cx="1389888" cy="374904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064508" y="3456432"/>
            <a:ext cx="13167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5417820" y="3401568"/>
            <a:ext cx="16002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454396" y="3456432"/>
            <a:ext cx="1527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7018020" y="3401568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054596" y="3456432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8206740" y="3401568"/>
            <a:ext cx="15087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243316" y="3456432"/>
            <a:ext cx="1435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9715500" y="3401568"/>
            <a:ext cx="1463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752076" y="3456432"/>
            <a:ext cx="13898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1010412" y="3776472"/>
            <a:ext cx="301752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46988" y="3831336"/>
            <a:ext cx="29443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دفع نقدي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4027932" y="3776472"/>
            <a:ext cx="1389888" cy="374904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64508" y="3831336"/>
            <a:ext cx="13167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5417820" y="3776472"/>
            <a:ext cx="160020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454396" y="3831336"/>
            <a:ext cx="1527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7018020" y="3776472"/>
            <a:ext cx="118872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054596" y="3831336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8206740" y="3776472"/>
            <a:ext cx="150876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243316" y="3831336"/>
            <a:ext cx="1435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9715500" y="3776472"/>
            <a:ext cx="1463040" cy="37490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752076" y="3831336"/>
            <a:ext cx="13898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1010412" y="4151376"/>
            <a:ext cx="3017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46988" y="4206240"/>
            <a:ext cx="29443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إدارية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4027932" y="4151376"/>
            <a:ext cx="1389888" cy="374904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064508" y="4206240"/>
            <a:ext cx="13167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5417820" y="4151376"/>
            <a:ext cx="16002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454396" y="4206240"/>
            <a:ext cx="1527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7018020" y="4151376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054596" y="4206240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8206740" y="4151376"/>
            <a:ext cx="15087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243316" y="4206240"/>
            <a:ext cx="1435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9715500" y="4151376"/>
            <a:ext cx="14630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752076" y="4206240"/>
            <a:ext cx="13898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457200" y="6163056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مدعوم بالكامل    ⚠️ مدعوم جزئياً    ❌ غير مدعوم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 المقترح  |  Proposed Solution — ZAD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694944"/>
            <a:ext cx="5486400" cy="573328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13432" y="1243584"/>
            <a:ext cx="1316736" cy="13167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313432" y="1444752"/>
            <a:ext cx="13167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زاد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منصة رقمية ذكية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316382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لإنقاذ الطعام الفائض وإعادة توزيعه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6850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🌍  يستهدف منطقة رام الله وفلسطين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07822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👥  يدعم 4 أنواع من المستخدمين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47141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📱  تطبيق موبايل + لوحة ويب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86460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🔒  نظام تحقق ورقابة إدارية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52578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📦  باقات غامضة + عروض واضحة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56509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📍  بحث قائم على الموقع الجغرافي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0" y="713232"/>
            <a:ext cx="283464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713232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731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🍽️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035040" y="14264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مطعم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5040" y="1883664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ينشر عروضاً وباقات فائضة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713232"/>
            <a:ext cx="283464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52560" y="713232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731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98280" y="14264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مستخدم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98280" y="1883664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يتصفح ويحجز ويقيّم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3136392"/>
            <a:ext cx="283464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3136392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3154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035040" y="384962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جمعية خيرية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35040" y="4306824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تستقبل وتوزع التبرعات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006840" y="3136392"/>
            <a:ext cx="283464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52560" y="3136392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9052560" y="3154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9098280" y="384962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المدير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98280" y="4306824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يراقب ويوافق ويدير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مستخدمو النظام  |  System Users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أربعة أنواع من المستخدمين — كل واحد بصلاحيات خاصة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1168" y="1188720"/>
            <a:ext cx="2761488" cy="480060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" y="1188720"/>
            <a:ext cx="2688336" cy="96012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" y="1225296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" y="1700784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المستخدم الفردي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578608" y="230428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2231136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تصفح وبحث العروض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78608" y="290779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283464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الحجز والإلغاء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78608" y="35112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3438144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توليد QR للاستلام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78608" y="41148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" y="4041648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التقييم والشكاوى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78608" y="471830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" y="464515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تبرعات لجمعيات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82112" y="1188720"/>
            <a:ext cx="2761488" cy="480060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1188720"/>
            <a:ext cx="2688336" cy="9601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3182112" y="1225296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255264" y="1700784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المطعم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559552" y="230428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273552" y="2231136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الباقات الفائضة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59552" y="290779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273552" y="283464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الحجوزات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559552" y="351129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3438144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مسح QR وتأكيد الاستلام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559552" y="411480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3273552" y="4041648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عرض الإحصاءات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559552" y="471830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3273552" y="464515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التبرع للجمعيات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63056" y="1188720"/>
            <a:ext cx="2761488" cy="480060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99632" y="1188720"/>
            <a:ext cx="2688336" cy="9601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41" name="Text 39"/>
          <p:cNvSpPr/>
          <p:nvPr/>
        </p:nvSpPr>
        <p:spPr>
          <a:xfrm>
            <a:off x="6163056" y="1225296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236208" y="1700784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الجمعية الخيرية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540496" y="230428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254496" y="2231136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مراجعة وقبول التبرعات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540496" y="290779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6254496" y="283464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جدولة موعد الاستلام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540496" y="351129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6254496" y="3438144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تأكيد الاستلام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540496" y="411480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6254496" y="4041648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المتبقي للتوزيع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540496" y="471830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6254496" y="464515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عرض سجل التبرعات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144000" y="1188720"/>
            <a:ext cx="2761488" cy="480060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180576" y="1188720"/>
            <a:ext cx="2688336" cy="9601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0" y="1225296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9217152" y="1700784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المدير (Admin)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11521440" y="230428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56"/>
          <p:cNvSpPr/>
          <p:nvPr/>
        </p:nvSpPr>
        <p:spPr>
          <a:xfrm>
            <a:off x="9235440" y="2231136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موافقة الحسابات وتحقق الهوية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11521440" y="290779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Text 58"/>
          <p:cNvSpPr/>
          <p:nvPr/>
        </p:nvSpPr>
        <p:spPr>
          <a:xfrm>
            <a:off x="9235440" y="283464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المستخدمين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11521440" y="3511296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Text 60"/>
          <p:cNvSpPr/>
          <p:nvPr/>
        </p:nvSpPr>
        <p:spPr>
          <a:xfrm>
            <a:off x="9235440" y="3438144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معالجة الشكاوى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11521440" y="411480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4" name="Text 62"/>
          <p:cNvSpPr/>
          <p:nvPr/>
        </p:nvSpPr>
        <p:spPr>
          <a:xfrm>
            <a:off x="9235440" y="4041648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العروض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1521440" y="471830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6" name="Text 64"/>
          <p:cNvSpPr/>
          <p:nvPr/>
        </p:nvSpPr>
        <p:spPr>
          <a:xfrm>
            <a:off x="9235440" y="4645152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تقارير وإحصاءات النظام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المتطلبات الوظيفية  |  Functional Requirements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" y="694944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" y="694944"/>
            <a:ext cx="3675888" cy="6583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" y="73152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" y="77724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الحسابات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30168" y="155448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14630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تسجيل حسابات لجميع الأدوار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30168" y="2084832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19933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مصادقة آمنة بالبريد الإلكتروني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30168" y="2615184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52374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تحكم بالصلاحيات حسب الدور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78808" y="694944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15384" y="694944"/>
            <a:ext cx="3675888" cy="658368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4224528" y="73152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70248" y="77724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العروض والتبرعات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7808" y="155448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270248" y="14630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باقات مطعم (غامضة / واضحة)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07808" y="208483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270248" y="19933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تبرعات فردية مجانية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07808" y="261518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270248" y="252374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عروض بسعر رمزي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56448" y="694944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93024" y="694944"/>
            <a:ext cx="3675888" cy="658368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8202168" y="73152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47888" y="77724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الاكتشاف والموقع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1585448" y="15544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8247888" y="14630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تحديد موقع GPS تلقائي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1585448" y="208483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247888" y="19933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بحث ضمن نطاق محدد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585448" y="261518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247888" y="252374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فلترة وترتيب العروض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01168" y="3328416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37744" y="3328416"/>
            <a:ext cx="3675888" cy="658368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42" name="Text 40"/>
          <p:cNvSpPr/>
          <p:nvPr/>
        </p:nvSpPr>
        <p:spPr>
          <a:xfrm>
            <a:off x="246888" y="336499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92608" y="341071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الحجز والاستلام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3630168" y="4187952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292608" y="40965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حجز مع منع التضارب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30168" y="4718304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292608" y="462686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توليد QR فريد لكل حجز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30168" y="524865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515721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تأكيد الاستلام بمسح QR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178808" y="3328416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215384" y="3328416"/>
            <a:ext cx="3675888" cy="658368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/>
        </p:spPr>
      </p:sp>
      <p:sp>
        <p:nvSpPr>
          <p:cNvPr id="52" name="Text 50"/>
          <p:cNvSpPr/>
          <p:nvPr/>
        </p:nvSpPr>
        <p:spPr>
          <a:xfrm>
            <a:off x="4224528" y="336499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70248" y="341071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التقييم والشكاوى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7607808" y="418795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4270248" y="40965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تقييم بعد الاستلام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607808" y="471830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7" name="Text 55"/>
          <p:cNvSpPr/>
          <p:nvPr/>
        </p:nvSpPr>
        <p:spPr>
          <a:xfrm>
            <a:off x="4270248" y="462686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تقديم شكاوى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607808" y="524865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9" name="Text 57"/>
          <p:cNvSpPr/>
          <p:nvPr/>
        </p:nvSpPr>
        <p:spPr>
          <a:xfrm>
            <a:off x="4270248" y="515721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معالجة إدارية للشكاوى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156448" y="3328416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193024" y="3328416"/>
            <a:ext cx="3675888" cy="658368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62" name="Text 60"/>
          <p:cNvSpPr/>
          <p:nvPr/>
        </p:nvSpPr>
        <p:spPr>
          <a:xfrm>
            <a:off x="8202168" y="336499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8247888" y="341071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الدفع والمعاملات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1585448" y="418795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63"/>
          <p:cNvSpPr/>
          <p:nvPr/>
        </p:nvSpPr>
        <p:spPr>
          <a:xfrm>
            <a:off x="8247888" y="40965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دفع نقدي عند الاستلام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1585448" y="4718304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7" name="Text 65"/>
          <p:cNvSpPr/>
          <p:nvPr/>
        </p:nvSpPr>
        <p:spPr>
          <a:xfrm>
            <a:off x="8247888" y="462686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دفع إلكتروني عبر بوابة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1585448" y="5248656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9" name="Text 67"/>
          <p:cNvSpPr/>
          <p:nvPr/>
        </p:nvSpPr>
        <p:spPr>
          <a:xfrm>
            <a:off x="8247888" y="515721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تسجيل تأكيد الدفع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المتطلبات غير الوظيفية  |  Non-Functional Requirements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" y="694944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" y="694944"/>
            <a:ext cx="3675888" cy="658368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" y="73152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" y="77724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الأداء والتوسع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30168" y="15544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" y="1463040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نتائج البحث خلال &lt; 3 ثوانٍ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30168" y="208483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" y="1993392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500 مستخدم متزامن كحد أدنى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30168" y="261518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" y="2523744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10,000 عرض نشط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78808" y="694944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15384" y="694944"/>
            <a:ext cx="3675888" cy="658368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4224528" y="73152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70248" y="77724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الأمان والخصوصية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7808" y="155448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288536" y="1463040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HTTPS + TLS لجميع الاتصالات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07808" y="208483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288536" y="1993392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كلمات مرور مُجزَّأة (Hashed)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07808" y="2615184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288536" y="2523744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الصلاحيات حسب الدور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56448" y="694944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93024" y="694944"/>
            <a:ext cx="3675888" cy="65836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02168" y="73152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47888" y="77724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التوفر والموثوقية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1585448" y="155448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8266176" y="1463040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99.9% وقت تشغيل شهرياً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1585448" y="2084832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8266176" y="1993392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اتساق البيانات في الوقت الحقيقي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585448" y="2615184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8266176" y="2523744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تعافٍ تلقائي من الأعطال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01168" y="3383280"/>
            <a:ext cx="5650992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37744" y="3383280"/>
            <a:ext cx="5577840" cy="658368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/>
        </p:spPr>
      </p:sp>
      <p:sp>
        <p:nvSpPr>
          <p:cNvPr id="42" name="Text 40"/>
          <p:cNvSpPr/>
          <p:nvPr/>
        </p:nvSpPr>
        <p:spPr>
          <a:xfrm>
            <a:off x="246888" y="341985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92608" y="346557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سهولة الاستخدام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504688" y="424281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310896" y="4151376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إتمام الحجز خلال &lt; 3 دقائق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504688" y="477316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310896" y="468172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عربية RTL كاملة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504688" y="530352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310896" y="521208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متوافق مع جميع أحجام الشاشات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90488" y="3383280"/>
            <a:ext cx="5650992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27064" y="3383280"/>
            <a:ext cx="5577840" cy="658368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/>
        </p:spPr>
      </p:sp>
      <p:sp>
        <p:nvSpPr>
          <p:cNvPr id="52" name="Text 50"/>
          <p:cNvSpPr/>
          <p:nvPr/>
        </p:nvSpPr>
        <p:spPr>
          <a:xfrm>
            <a:off x="6236208" y="341985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281928" y="346557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الصيانة والمراقبة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11494008" y="424281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6300216" y="4151376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سجلات للعمليات الحرجة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1494008" y="477316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6300216" y="468172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هيكلية طبقية قابلة للصيانة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1494008" y="530352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9" name="Text 57"/>
          <p:cNvSpPr/>
          <p:nvPr/>
        </p:nvSpPr>
        <p:spPr>
          <a:xfrm>
            <a:off x="6300216" y="521208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مكوّنات قابلة للإعادة والتوسع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التقنيات المستخدمة  |  Technologies Used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مكدّس تقني حديث مبني للموبايل والسحابة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82880" y="1188720"/>
            <a:ext cx="2788920" cy="2029968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188720"/>
            <a:ext cx="2697480" cy="713232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22529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" y="1938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Flutter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56032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إطار تطوير الموبايل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" y="26334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تطبيق واحد يعمل على Android و iOS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63824" y="1188720"/>
            <a:ext cx="2788920" cy="2029968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9544" y="1188720"/>
            <a:ext cx="2697480" cy="713232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3163824" y="122529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36976" y="1938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Firebase Auth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36976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المصادقة والتحقق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36976" y="26334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تسجيل دخول، تحقق بريد، حالة الجلسة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4768" y="1188720"/>
            <a:ext cx="2788920" cy="2029968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0488" y="1188720"/>
            <a:ext cx="2697480" cy="713232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44768" y="122529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1938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Firestore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17920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قاعدة البيانات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17920" y="26334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قاعدة بيانات NoSQL حية ومتزامنة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25712" y="1188720"/>
            <a:ext cx="2788920" cy="2029968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71432" y="1188720"/>
            <a:ext cx="2697480" cy="713232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31" name="Text 29"/>
          <p:cNvSpPr/>
          <p:nvPr/>
        </p:nvSpPr>
        <p:spPr>
          <a:xfrm>
            <a:off x="9125712" y="122529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198864" y="1938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Cloudinary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198864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تخزين الصور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98864" y="26334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CDN عالمي لرفع وتقديم الصور بأمان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" y="3474720"/>
            <a:ext cx="2788920" cy="2029968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3474720"/>
            <a:ext cx="2697480" cy="713232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351129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56032" y="4224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Geolocator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256032" y="4608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خدمات الموقع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56032" y="49194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تحديد GPS وحساب المسافات Haversine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63824" y="3474720"/>
            <a:ext cx="2788920" cy="2029968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9544" y="3474720"/>
            <a:ext cx="2697480" cy="713232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/>
        </p:spPr>
      </p:sp>
      <p:sp>
        <p:nvSpPr>
          <p:cNvPr id="43" name="Text 41"/>
          <p:cNvSpPr/>
          <p:nvPr/>
        </p:nvSpPr>
        <p:spPr>
          <a:xfrm>
            <a:off x="3163824" y="351129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📲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3236976" y="4224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QR Flutter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3236976" y="4608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توليد QR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236976" y="49194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رموز QR فريدة لكل حجز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44768" y="3474720"/>
            <a:ext cx="2788920" cy="2029968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90488" y="3474720"/>
            <a:ext cx="2697480" cy="713232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49" name="Text 47"/>
          <p:cNvSpPr/>
          <p:nvPr/>
        </p:nvSpPr>
        <p:spPr>
          <a:xfrm>
            <a:off x="6144768" y="351129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6217920" y="4224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FCM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6217920" y="4608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الإشعارات الفورية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217920" y="49194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Firebase Cloud Messaging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125712" y="3474720"/>
            <a:ext cx="2788920" cy="2029968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171432" y="3474720"/>
            <a:ext cx="2697480" cy="713232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</p:sp>
      <p:sp>
        <p:nvSpPr>
          <p:cNvPr id="55" name="Text 53"/>
          <p:cNvSpPr/>
          <p:nvPr/>
        </p:nvSpPr>
        <p:spPr>
          <a:xfrm>
            <a:off x="9125712" y="351129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9198864" y="4224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Scanner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9198864" y="4608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مسح QR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9198864" y="49194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قراءة رمز QR من كاميرا المطعم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معمارية النظام  |  System Architecture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71116" y="713232"/>
            <a:ext cx="8046720" cy="1627632"/>
          </a:xfrm>
          <a:prstGeom prst="roundRect">
            <a:avLst>
              <a:gd name="adj" fmla="val 8427"/>
            </a:avLst>
          </a:prstGeom>
          <a:solidFill>
            <a:srgbClr val="EFF6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08276" y="106070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208276" y="8046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طبقة العرض (UI Layer)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08276" y="124358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08276" y="153619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تطبيق Flutter للمستخدمين   •   لوحة ويب للمطاعم والجمعيات   •   لوحة إدارة المدير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57900" y="2340864"/>
            <a:ext cx="73152" cy="14630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5820156" y="23408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71116" y="2523744"/>
            <a:ext cx="8046720" cy="1627632"/>
          </a:xfrm>
          <a:prstGeom prst="roundRect">
            <a:avLst>
              <a:gd name="adj" fmla="val 8427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08276" y="287121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208276" y="26151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طبقة الأعمال (Business Logic)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08276" y="30540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08276" y="3346704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الحجوزات والعروض   •   منع التضارب في الحجز   •   توليد QR والإشعارات   •   التحقق من الهوية والأدوار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57900" y="4151376"/>
            <a:ext cx="73152" cy="14630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3" name="Text 21"/>
          <p:cNvSpPr/>
          <p:nvPr/>
        </p:nvSpPr>
        <p:spPr>
          <a:xfrm>
            <a:off x="5820156" y="415137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71116" y="4334256"/>
            <a:ext cx="8046720" cy="1627632"/>
          </a:xfrm>
          <a:prstGeom prst="roundRect">
            <a:avLst>
              <a:gd name="adj" fmla="val 8427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08276" y="46817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208276" y="44256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طبقة البنية التحتية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208276" y="4864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08276" y="5157216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Cloud Firestore (قاعدة البيانات)   •   Firebase Auth (المصادقة)   •   Cloudinary (الصور)   •   Geolocator / FCM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48472" y="713232"/>
            <a:ext cx="3566160" cy="51206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94192" y="7863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خدمات خارجية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22792" y="1188720"/>
            <a:ext cx="30175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8439912" y="138074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988552" y="13624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Firebase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988552" y="1691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Auth + FCM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39912" y="22585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988552" y="2240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Cloudinary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988552" y="256946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CDN للصور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39912" y="31363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988552" y="31181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Geolocator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988552" y="34472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GPS محلي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39912" y="401421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988552" y="39959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GW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988552" y="432511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بوابة الدفع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39912" y="4892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8988552" y="48737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Scanner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988552" y="52029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مسح QR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تصميم قاعدة البيانات  |  Database Design — Firestore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Firestore NoSQL — مجموعات المستندات الرئيسية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27980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9456" y="1170432"/>
            <a:ext cx="2724912" cy="5486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12344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users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97480" y="193852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82880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uid, name, email, role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97480" y="2313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20370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phone, address, lat/lng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97480" y="268833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57860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status, isApproved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97480" y="30632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535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username (اختياري)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72968" y="1170432"/>
            <a:ext cx="27980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9544" y="1170432"/>
            <a:ext cx="2724912" cy="5486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12344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offers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87568" y="193852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182880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offerId, title, category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87568" y="23134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264408" y="220370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price, discountPrice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87568" y="26883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264408" y="257860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quantity, offerType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87568" y="30632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264408" y="29535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lat/lng, allergens, status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63056" y="1170432"/>
            <a:ext cx="27980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99632" y="1170432"/>
            <a:ext cx="2724912" cy="5486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12344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reservations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677656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254496" y="182880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reservationId, userId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77656" y="23134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254496" y="220370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offerId, quantity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77656" y="26883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254496" y="257860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status, paymentMethod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77656" y="30632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254496" y="29535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reservationCode, createdAt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53144" y="1170432"/>
            <a:ext cx="27980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189720" y="1170432"/>
            <a:ext cx="2724912" cy="5486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9226296" y="12344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reviews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1667744" y="193852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9244584" y="182880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reviewId, userId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1667744" y="2313432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9244584" y="220370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offerId, rating (1–5)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1667744" y="268833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9244584" y="257860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comment, createdAt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82880" y="3547872"/>
            <a:ext cx="27980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19456" y="3547872"/>
            <a:ext cx="2724912" cy="54864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256032" y="36118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complaints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697480" y="43159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20624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complaintId, userId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697480" y="469087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458114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offerId, description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697480" y="50657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495604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status: open/resolved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697480" y="544068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61"/>
          <p:cNvSpPr/>
          <p:nvPr/>
        </p:nvSpPr>
        <p:spPr>
          <a:xfrm>
            <a:off x="274320" y="533095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adminNote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172968" y="3547872"/>
            <a:ext cx="27980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09544" y="3547872"/>
            <a:ext cx="2724912" cy="5486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66" name="Text 64"/>
          <p:cNvSpPr/>
          <p:nvPr/>
        </p:nvSpPr>
        <p:spPr>
          <a:xfrm>
            <a:off x="3246120" y="36118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notifications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687568" y="431596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8" name="Text 66"/>
          <p:cNvSpPr/>
          <p:nvPr/>
        </p:nvSpPr>
        <p:spPr>
          <a:xfrm>
            <a:off x="3264408" y="420624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notifId, userId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687568" y="46908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0" name="Text 68"/>
          <p:cNvSpPr/>
          <p:nvPr/>
        </p:nvSpPr>
        <p:spPr>
          <a:xfrm>
            <a:off x="3264408" y="458114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title, body, type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687568" y="506577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3264408" y="495604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isRead, createdAt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163056" y="3547872"/>
            <a:ext cx="27980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199632" y="3547872"/>
            <a:ext cx="2724912" cy="5486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75" name="Text 73"/>
          <p:cNvSpPr/>
          <p:nvPr/>
        </p:nvSpPr>
        <p:spPr>
          <a:xfrm>
            <a:off x="6236208" y="36118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support_chats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8677656" y="431596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7" name="Text 75"/>
          <p:cNvSpPr/>
          <p:nvPr/>
        </p:nvSpPr>
        <p:spPr>
          <a:xfrm>
            <a:off x="6254496" y="420624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chatId, userId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677656" y="4690872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9" name="Text 77"/>
          <p:cNvSpPr/>
          <p:nvPr/>
        </p:nvSpPr>
        <p:spPr>
          <a:xfrm>
            <a:off x="6254496" y="458114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messages[], status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677656" y="506577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1" name="Text 79"/>
          <p:cNvSpPr/>
          <p:nvPr/>
        </p:nvSpPr>
        <p:spPr>
          <a:xfrm>
            <a:off x="6254496" y="495604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createdAt, closedAt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9153144" y="3547872"/>
            <a:ext cx="27980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9189720" y="3547872"/>
            <a:ext cx="2724912" cy="54864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84" name="Text 82"/>
          <p:cNvSpPr/>
          <p:nvPr/>
        </p:nvSpPr>
        <p:spPr>
          <a:xfrm>
            <a:off x="9226296" y="36118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donations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11667744" y="431596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6" name="Text 84"/>
          <p:cNvSpPr/>
          <p:nvPr/>
        </p:nvSpPr>
        <p:spPr>
          <a:xfrm>
            <a:off x="9244584" y="420624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donationId, donorId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1667744" y="46908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8" name="Text 86"/>
          <p:cNvSpPr/>
          <p:nvPr/>
        </p:nvSpPr>
        <p:spPr>
          <a:xfrm>
            <a:off x="9244584" y="458114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charityId, foodName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11667744" y="506577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0" name="Text 88"/>
          <p:cNvSpPr/>
          <p:nvPr/>
        </p:nvSpPr>
        <p:spPr>
          <a:xfrm>
            <a:off x="9244584" y="495604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status, pickupTime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11667744" y="544068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2" name="Text 90"/>
          <p:cNvSpPr/>
          <p:nvPr/>
        </p:nvSpPr>
        <p:spPr>
          <a:xfrm>
            <a:off x="9244584" y="533095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imageUrl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الميزات الرئيسية حسب الدور  |  Major Features by Role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" y="667512"/>
            <a:ext cx="5760720" cy="2578608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" y="667512"/>
            <a:ext cx="5687568" cy="658368"/>
          </a:xfrm>
          <a:prstGeom prst="roundRect">
            <a:avLst>
              <a:gd name="adj" fmla="val 19444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7040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🍽️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2608" y="758952"/>
            <a:ext cx="5559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المطعم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154533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127248" y="1435608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باقة غامضة أو عرض واضح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211226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127248" y="2002536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إرفاق صورة وتحديد موقع GPS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267919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127248" y="256946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تحديد مسببات الحساسية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154533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1435608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مسح QR وتأكيد الاستلام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211226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002536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إحصاءات وحجوزات نشطة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0488" y="667512"/>
            <a:ext cx="5760720" cy="2578608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27064" y="667512"/>
            <a:ext cx="5687568" cy="658368"/>
          </a:xfrm>
          <a:prstGeom prst="roundRect">
            <a:avLst>
              <a:gd name="adj" fmla="val 19444"/>
            </a:avLst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81928" y="7040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81928" y="758952"/>
            <a:ext cx="5559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المستخدم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750040" y="1545336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9116568" y="1435608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تصفح العروض بفلترة ذكية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50040" y="2112264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9116568" y="2002536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حجز بكمية متعددة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750040" y="2679192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9116568" y="256946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اختيار طريقة الدفع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1545336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281928" y="1435608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QR للاستلام + تتبع الطلب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89320" y="2112264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281928" y="2002536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تقييم وتبرع للجمعيات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1168" y="3429000"/>
            <a:ext cx="5760720" cy="2578608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37744" y="3429000"/>
            <a:ext cx="5687568" cy="658368"/>
          </a:xfrm>
          <a:prstGeom prst="roundRect">
            <a:avLst>
              <a:gd name="adj" fmla="val 19444"/>
            </a:avLst>
          </a:prstGeom>
          <a:solidFill>
            <a:srgbClr val="EDE9FE"/>
          </a:solidFill>
          <a:ln/>
        </p:spPr>
      </p:sp>
      <p:sp>
        <p:nvSpPr>
          <p:cNvPr id="40" name="Text 38"/>
          <p:cNvSpPr/>
          <p:nvPr/>
        </p:nvSpPr>
        <p:spPr>
          <a:xfrm>
            <a:off x="292608" y="34655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292608" y="3520440"/>
            <a:ext cx="5559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الجمعية الخيرية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760720" y="4306824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3127248" y="4197096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تصفح التبرعات المتاحة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760720" y="4873752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3127248" y="476402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قبول أو رفض التبرعات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760720" y="5440680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3127248" y="5330952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جدولة الاستلام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4306824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4197096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الفائض للتوزيع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4873752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292608" y="476402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التبرعات والتقارير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190488" y="3429000"/>
            <a:ext cx="5760720" cy="2578608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27064" y="3429000"/>
            <a:ext cx="5687568" cy="658368"/>
          </a:xfrm>
          <a:prstGeom prst="roundRect">
            <a:avLst>
              <a:gd name="adj" fmla="val 19444"/>
            </a:avLst>
          </a:prstGeom>
          <a:solidFill>
            <a:srgbClr val="FEE2E2"/>
          </a:solidFill>
          <a:ln/>
        </p:spPr>
      </p:sp>
      <p:sp>
        <p:nvSpPr>
          <p:cNvPr id="54" name="Text 52"/>
          <p:cNvSpPr/>
          <p:nvPr/>
        </p:nvSpPr>
        <p:spPr>
          <a:xfrm>
            <a:off x="6281928" y="34655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6281928" y="3520440"/>
            <a:ext cx="5559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المدير (Admin)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1750040" y="430682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5"/>
          <p:cNvSpPr/>
          <p:nvPr/>
        </p:nvSpPr>
        <p:spPr>
          <a:xfrm>
            <a:off x="9116568" y="4197096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موافقة حسابات المطاعم والجمعيات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1750040" y="4873752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7"/>
          <p:cNvSpPr/>
          <p:nvPr/>
        </p:nvSpPr>
        <p:spPr>
          <a:xfrm>
            <a:off x="9116568" y="476402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مراجعة وثائق التحقق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1750040" y="5440680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1" name="Text 59"/>
          <p:cNvSpPr/>
          <p:nvPr/>
        </p:nvSpPr>
        <p:spPr>
          <a:xfrm>
            <a:off x="9116568" y="5330952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المستخدمين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989320" y="430682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61"/>
          <p:cNvSpPr/>
          <p:nvPr/>
        </p:nvSpPr>
        <p:spPr>
          <a:xfrm>
            <a:off x="6281928" y="4197096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معالجة الشكاوى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989320" y="4873752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63"/>
          <p:cNvSpPr/>
          <p:nvPr/>
        </p:nvSpPr>
        <p:spPr>
          <a:xfrm>
            <a:off x="6281928" y="476402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إحصاءات وتقارير شاملة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الميزات الذكية  |  Smart Features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" y="713232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" y="713232"/>
            <a:ext cx="3675888" cy="713232"/>
          </a:xfrm>
          <a:prstGeom prst="roundRect">
            <a:avLst>
              <a:gd name="adj" fmla="val 17949"/>
            </a:avLst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" y="7498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0896" y="1490472"/>
            <a:ext cx="3529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QR للاستلام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" y="194767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يُولَّد رمز QR فريد لكل حجز. المطعم يمسحه لتأكيد الاستلام فوراً وتحديث الحالة في الوقت الحقيقي.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78808" y="713232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15384" y="713232"/>
            <a:ext cx="3675888" cy="713232"/>
          </a:xfrm>
          <a:prstGeom prst="roundRect">
            <a:avLst>
              <a:gd name="adj" fmla="val 17949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7498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288536" y="1490472"/>
            <a:ext cx="3529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المساعد الذكي (Chatbot)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88536" y="194767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مساعد rule-based يجيب على الأسئلة الشائعة ويرشد المستخدمين، مع إمكانية التحويل لدعم بشري.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6448" y="713232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93024" y="713232"/>
            <a:ext cx="3675888" cy="713232"/>
          </a:xfrm>
          <a:prstGeom prst="roundRect">
            <a:avLst>
              <a:gd name="adj" fmla="val 17949"/>
            </a:avLst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8156448" y="7498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66176" y="1490472"/>
            <a:ext cx="3529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الموقع الجغرافي GPS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66176" y="194767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تحديد تلقائي للموقع ثم ترتيب العروض حسب المسافة باستخدام صيغة Haversine من جانب العميل.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1168" y="3346704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7744" y="3346704"/>
            <a:ext cx="3675888" cy="713232"/>
          </a:xfrm>
          <a:prstGeom prst="roundRect">
            <a:avLst>
              <a:gd name="adj" fmla="val 17949"/>
            </a:avLst>
          </a:prstGeom>
          <a:solidFill>
            <a:srgbClr val="EDE9FE"/>
          </a:solidFill>
          <a:ln/>
        </p:spPr>
      </p:sp>
      <p:sp>
        <p:nvSpPr>
          <p:cNvPr id="27" name="Text 25"/>
          <p:cNvSpPr/>
          <p:nvPr/>
        </p:nvSpPr>
        <p:spPr>
          <a:xfrm>
            <a:off x="201168" y="3383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🎛️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10896" y="4123944"/>
            <a:ext cx="3529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فلترة ذكية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" y="4581144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صفحة فلترة متقدمة: نوع المزود، السعر، الفئة، الترتيب — مع بطاقات نشطة قابلة للإزالة فوراً.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78808" y="3346704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15384" y="3346704"/>
            <a:ext cx="3675888" cy="713232"/>
          </a:xfrm>
          <a:prstGeom prst="roundRect">
            <a:avLst>
              <a:gd name="adj" fmla="val 17949"/>
            </a:avLst>
          </a:prstGeom>
          <a:solidFill>
            <a:srgbClr val="CCFBF1"/>
          </a:solidFill>
          <a:ln/>
        </p:spPr>
      </p:sp>
      <p:sp>
        <p:nvSpPr>
          <p:cNvPr id="32" name="Text 30"/>
          <p:cNvSpPr/>
          <p:nvPr/>
        </p:nvSpPr>
        <p:spPr>
          <a:xfrm>
            <a:off x="4178808" y="3383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🎁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288536" y="4123944"/>
            <a:ext cx="3529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الباقة الغامضة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88536" y="4581144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المطعم ينشر باقة بمحتوى غير محدد بسعر رمزي — حل مبتكر لطعام لا يمكن توصيفه مسبقاً.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56448" y="3346704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93024" y="3346704"/>
            <a:ext cx="3675888" cy="713232"/>
          </a:xfrm>
          <a:prstGeom prst="roundRect">
            <a:avLst>
              <a:gd name="adj" fmla="val 17949"/>
            </a:avLst>
          </a:prstGeom>
          <a:solidFill>
            <a:srgbClr val="FEE2E2"/>
          </a:solidFill>
          <a:ln/>
        </p:spPr>
      </p:sp>
      <p:sp>
        <p:nvSpPr>
          <p:cNvPr id="37" name="Text 35"/>
          <p:cNvSpPr/>
          <p:nvPr/>
        </p:nvSpPr>
        <p:spPr>
          <a:xfrm>
            <a:off x="8156448" y="3383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266176" y="4123944"/>
            <a:ext cx="3529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معلومات الحساسية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66176" y="4581144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المطعم يحدد مسببات الحساسية (جلوتين، ألبان، مكسرات...) وتظهر واضحةً في تفاصيل العرض.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الأمان والتحقق  |  Security &amp; Verification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طبقات متعددة من الأمان تضمن مصداقية المنصة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1168" y="1188720"/>
            <a:ext cx="3749040" cy="2212848"/>
          </a:xfrm>
          <a:prstGeom prst="roundRect">
            <a:avLst>
              <a:gd name="adj" fmla="val 61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" y="1188720"/>
            <a:ext cx="3675888" cy="640080"/>
          </a:xfrm>
          <a:prstGeom prst="roundRect">
            <a:avLst>
              <a:gd name="adj" fmla="val 17143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" y="122529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2608" y="18836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تحقق البريد الإلكتروني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608" y="224942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يمكن تسجيل الدخول قبل تأكيد البريد الإلكتروني — يمنع الحسابات الوهمية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" y="30358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Firebase Auth Email Verification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78808" y="1188720"/>
            <a:ext cx="3749040" cy="2212848"/>
          </a:xfrm>
          <a:prstGeom prst="roundRect">
            <a:avLst>
              <a:gd name="adj" fmla="val 61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15384" y="1188720"/>
            <a:ext cx="3675888" cy="640080"/>
          </a:xfrm>
          <a:prstGeom prst="roundRect">
            <a:avLst>
              <a:gd name="adj" fmla="val 17143"/>
            </a:avLst>
          </a:prstGeom>
          <a:solidFill>
            <a:srgbClr val="ECFDF5"/>
          </a:solidFill>
          <a:ln/>
        </p:spPr>
      </p:sp>
      <p:sp>
        <p:nvSpPr>
          <p:cNvPr id="19" name="Text 17"/>
          <p:cNvSpPr/>
          <p:nvPr/>
        </p:nvSpPr>
        <p:spPr>
          <a:xfrm>
            <a:off x="4178808" y="122529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70248" y="18836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موافقة المدير على الحسابات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70248" y="224942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المطاعم والجمعيات تُراجَع من المدير قبل تفعيل حساباتها ونشر أي عرض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70248" y="30358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Firestore verificationStatus field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56448" y="1188720"/>
            <a:ext cx="3749040" cy="2212848"/>
          </a:xfrm>
          <a:prstGeom prst="roundRect">
            <a:avLst>
              <a:gd name="adj" fmla="val 61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93024" y="1188720"/>
            <a:ext cx="3675888" cy="640080"/>
          </a:xfrm>
          <a:prstGeom prst="roundRect">
            <a:avLst>
              <a:gd name="adj" fmla="val 17143"/>
            </a:avLst>
          </a:prstGeom>
          <a:solidFill>
            <a:srgbClr val="EDE9FE"/>
          </a:solidFill>
          <a:ln/>
        </p:spPr>
      </p:sp>
      <p:sp>
        <p:nvSpPr>
          <p:cNvPr id="25" name="Text 23"/>
          <p:cNvSpPr/>
          <p:nvPr/>
        </p:nvSpPr>
        <p:spPr>
          <a:xfrm>
            <a:off x="8156448" y="122529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47888" y="18836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Cloudinary للصور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47888" y="224942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جميع الصور مرفوعة على Cloudinary بـ HTTPS — Firebase Storage غير مستخدم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47888" y="30358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Cloudinary CDN + secure_url only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1168" y="3611880"/>
            <a:ext cx="3749040" cy="2212848"/>
          </a:xfrm>
          <a:prstGeom prst="roundRect">
            <a:avLst>
              <a:gd name="adj" fmla="val 61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7744" y="3611880"/>
            <a:ext cx="3675888" cy="64008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" y="364845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92608" y="43068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تحقق QR من طرف المطعم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92608" y="467258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QR يحمل JSON موقّع برمز الحجز ومعرف المستخدم — يُرفض إذا كان مستخدماً مسبقاً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92608" y="5458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Firestore reservation status check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78808" y="3611880"/>
            <a:ext cx="3749040" cy="2212848"/>
          </a:xfrm>
          <a:prstGeom prst="roundRect">
            <a:avLst>
              <a:gd name="adj" fmla="val 61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15384" y="3611880"/>
            <a:ext cx="3675888" cy="640080"/>
          </a:xfrm>
          <a:prstGeom prst="roundRect">
            <a:avLst>
              <a:gd name="adj" fmla="val 17143"/>
            </a:avLst>
          </a:prstGeom>
          <a:solidFill>
            <a:srgbClr val="CCFBF1"/>
          </a:solidFill>
          <a:ln/>
        </p:spPr>
      </p:sp>
      <p:sp>
        <p:nvSpPr>
          <p:cNvPr id="37" name="Text 35"/>
          <p:cNvSpPr/>
          <p:nvPr/>
        </p:nvSpPr>
        <p:spPr>
          <a:xfrm>
            <a:off x="4178808" y="364845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270248" y="43068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تشفير الاتصالات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270248" y="467258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جميع الاتصالات بين التطبيق والخادم تستخدم HTTPS/TLS — لا بيانات نصية مكشوفة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270248" y="5458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 enforced by Firebase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56448" y="3611880"/>
            <a:ext cx="3749040" cy="2212848"/>
          </a:xfrm>
          <a:prstGeom prst="roundRect">
            <a:avLst>
              <a:gd name="adj" fmla="val 619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93024" y="3611880"/>
            <a:ext cx="3675888" cy="640080"/>
          </a:xfrm>
          <a:prstGeom prst="roundRect">
            <a:avLst>
              <a:gd name="adj" fmla="val 17143"/>
            </a:avLst>
          </a:prstGeom>
          <a:solidFill>
            <a:srgbClr val="FEE2E2"/>
          </a:solidFill>
          <a:ln/>
        </p:spPr>
      </p:sp>
      <p:sp>
        <p:nvSpPr>
          <p:cNvPr id="43" name="Text 41"/>
          <p:cNvSpPr/>
          <p:nvPr/>
        </p:nvSpPr>
        <p:spPr>
          <a:xfrm>
            <a:off x="8156448" y="364845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8247888" y="43068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اسم مستخدم اختياري للدخول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247888" y="467258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المستخدم يسجّل الدخول ببريده الإلكتروني أو باسم مستخدم فريد — resolveEmail() في auth_service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247888" y="5458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Firestore username lookup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العمل الحي  |  Live Workflow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" y="1170432"/>
            <a:ext cx="1298448" cy="1417320"/>
          </a:xfrm>
          <a:prstGeom prst="roundRect">
            <a:avLst>
              <a:gd name="adj" fmla="val 10563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" y="126187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" y="1883664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المطعم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ينشر العرض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3172" y="118872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" y="120700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13332" y="1673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96212" y="1170432"/>
            <a:ext cx="1298448" cy="1417320"/>
          </a:xfrm>
          <a:prstGeom prst="roundRect">
            <a:avLst>
              <a:gd name="adj" fmla="val 10563"/>
            </a:avLst>
          </a:prstGeom>
          <a:solidFill>
            <a:srgbClr val="EFF6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96212" y="126187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41932" y="1883664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المستخدم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يتصفح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732788" y="118872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732788" y="120700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2948" y="1673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195828" y="1170432"/>
            <a:ext cx="1298448" cy="1417320"/>
          </a:xfrm>
          <a:prstGeom prst="roundRect">
            <a:avLst>
              <a:gd name="adj" fmla="val 10563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95828" y="126187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🎛️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41548" y="1883664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فلترة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وتصفية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32404" y="118872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232404" y="120700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12564" y="1673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95444" y="1170432"/>
            <a:ext cx="1298448" cy="1417320"/>
          </a:xfrm>
          <a:prstGeom prst="roundRect">
            <a:avLst>
              <a:gd name="adj" fmla="val 10563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95444" y="126187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🎫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741164" y="1883664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الحجز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بالكمية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32020" y="118872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732020" y="120700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12180" y="1673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195060" y="1170432"/>
            <a:ext cx="1298448" cy="1417320"/>
          </a:xfrm>
          <a:prstGeom prst="roundRect">
            <a:avLst>
              <a:gd name="adj" fmla="val 10563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95060" y="126187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240780" y="1883664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اختيار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الدفع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31636" y="118872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231636" y="120700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11796" y="1673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694676" y="1170432"/>
            <a:ext cx="1298448" cy="1417320"/>
          </a:xfrm>
          <a:prstGeom prst="roundRect">
            <a:avLst>
              <a:gd name="adj" fmla="val 10563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94676" y="126187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740396" y="1883664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QR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الاستلام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731252" y="1188720"/>
            <a:ext cx="329184" cy="3291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7731252" y="120700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11412" y="1673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94292" y="1170432"/>
            <a:ext cx="1298448" cy="1417320"/>
          </a:xfrm>
          <a:prstGeom prst="roundRect">
            <a:avLst>
              <a:gd name="adj" fmla="val 10563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194292" y="126187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9240012" y="1883664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تأكيد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الاستلام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9230868" y="118872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9230868" y="120700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511028" y="1673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0693908" y="1170432"/>
            <a:ext cx="1298448" cy="1417320"/>
          </a:xfrm>
          <a:prstGeom prst="roundRect">
            <a:avLst>
              <a:gd name="adj" fmla="val 10563"/>
            </a:avLst>
          </a:prstGeom>
          <a:solidFill>
            <a:srgbClr val="FEE2E2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693908" y="1261872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10739628" y="1883664"/>
            <a:ext cx="1207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التقييم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والمراجعة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10730484" y="118872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4"/>
          <p:cNvSpPr/>
          <p:nvPr/>
        </p:nvSpPr>
        <p:spPr>
          <a:xfrm>
            <a:off x="10730484" y="1207008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4320" y="2862072"/>
            <a:ext cx="11640312" cy="2103120"/>
          </a:xfrm>
          <a:prstGeom prst="roundRect">
            <a:avLst>
              <a:gd name="adj" fmla="val 7826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7200" y="2953512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التبرع للجمعية الخيرية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379476" y="3419856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79476" y="351129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425196" y="409651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المستخدم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يتبرع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2125980" y="387705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2318004" y="3419856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2318004" y="351129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2363724" y="409651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الجمعية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تُخطَر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4064508" y="387705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256532" y="3419856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256532" y="351129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4302252" y="409651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قبول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التبرع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6003036" y="387705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95060" y="3419856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195060" y="351129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6240780" y="409651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جدولة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الاستلام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7941564" y="387705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133588" y="3419856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8133588" y="351129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77" name="Text 75"/>
          <p:cNvSpPr/>
          <p:nvPr/>
        </p:nvSpPr>
        <p:spPr>
          <a:xfrm>
            <a:off x="8179308" y="409651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تأكيد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الاستلام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9880092" y="3877056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0072116" y="3419856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10072116" y="351129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81" name="Text 79"/>
          <p:cNvSpPr/>
          <p:nvPr/>
        </p:nvSpPr>
        <p:spPr>
          <a:xfrm>
            <a:off x="10117836" y="409651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</a:t>
            </a:r>
            <a:endParaRPr lang="en-US" sz="1250" dirty="0"/>
          </a:p>
          <a:p>
            <a:pPr rtl="1"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المتبقي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التحديات والحلول  |  Challenges &amp; Solutions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تحديات واجهناها خلال التطوير وكيف تغلبنا عليها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1168" y="1188720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1225296"/>
            <a:ext cx="594360" cy="143560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" y="16002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7824" y="1298448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التحدي: منع التضارب في الحجز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9536" y="1682496"/>
            <a:ext cx="4992624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1755648"/>
            <a:ext cx="49926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الحل: Firestore transactions تضمن أن كل عرض لا يُحجز إلا مرة واحدة في نفس الوقت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1188720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225296"/>
            <a:ext cx="594360" cy="1435608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16002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76288" y="1298448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التحدي: استعلامات Firestore مع الموقع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1682496"/>
            <a:ext cx="4992624" cy="228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76288" y="1755648"/>
            <a:ext cx="49926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الحل: تجنبنا orderBy+where المركّب (يتطلب فهرساً) — نجلب البيانات ونرتبها من جانب العميل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" y="2907792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2944368"/>
            <a:ext cx="594360" cy="1435608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" y="331927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77824" y="3017520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التحدي: التحقق من الهوية قبل النشر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9536" y="3401568"/>
            <a:ext cx="4992624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3474720"/>
            <a:ext cx="49926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الحل: قاعدة بيانات Firestore تربط nationalId بالمستخدم، ولا ينشر أحد بدون تحقق إداري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9632" y="2907792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2944368"/>
            <a:ext cx="594360" cy="1435608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31" name="Text 29"/>
          <p:cNvSpPr/>
          <p:nvPr/>
        </p:nvSpPr>
        <p:spPr>
          <a:xfrm>
            <a:off x="6245352" y="331927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76288" y="3017520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التحدي: دعم اللغة العربية RTL في Flutter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0" y="3401568"/>
            <a:ext cx="4992624" cy="228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876288" y="3474720"/>
            <a:ext cx="49926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الحل: MaterialApp مع textDirection: RTL وكل Widget يدعم المحاذاة اليمين-لليسار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1168" y="4626864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1168" y="4663440"/>
            <a:ext cx="594360" cy="1435608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/>
        </p:spPr>
      </p:sp>
      <p:sp>
        <p:nvSpPr>
          <p:cNvPr id="37" name="Text 35"/>
          <p:cNvSpPr/>
          <p:nvPr/>
        </p:nvSpPr>
        <p:spPr>
          <a:xfrm>
            <a:off x="246888" y="503834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77824" y="4736592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التحدي: رفع الصور بأمان بدون Firebase Storage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9536" y="5120640"/>
            <a:ext cx="4992624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877824" y="5193792"/>
            <a:ext cx="49926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الحل: Cloudinary مع upload_preset يستلم الصور ويُعيد secure_url فقط — لا بيانات حساسة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99632" y="4626864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4663440"/>
            <a:ext cx="594360" cy="143560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43" name="Text 41"/>
          <p:cNvSpPr/>
          <p:nvPr/>
        </p:nvSpPr>
        <p:spPr>
          <a:xfrm>
            <a:off x="6245352" y="503834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876288" y="4736592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التحدي: دعم تسجيل الدخول باسم المستخدم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58000" y="5120640"/>
            <a:ext cx="4992624" cy="228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6876288" y="5193792"/>
            <a:ext cx="49926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الحل: resolveEmail() تكشف البريد من Firestore إذا كان المدخل لا يحتوي @ — الإيميل يُحلّ أولاً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النتائج والإنجازات  |  Results &amp; Achievements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تم إنجازه في ZAD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1168" y="1188720"/>
            <a:ext cx="576072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1188720"/>
            <a:ext cx="256032" cy="2103120"/>
          </a:xfrm>
          <a:prstGeom prst="roundRect">
            <a:avLst>
              <a:gd name="adj" fmla="val 35714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727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81328" y="135331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1481328" y="21579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متطلباً وظيفياً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81328" y="25420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تم تنفيذ جميع المتطلبات الوظيفية المحددة (FR-01 إلى FR-42)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1188720"/>
            <a:ext cx="576072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188720"/>
            <a:ext cx="256032" cy="2103120"/>
          </a:xfrm>
          <a:prstGeom prst="roundRect">
            <a:avLst>
              <a:gd name="adj" fmla="val 35714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47104" y="15727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479792" y="135331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7479792" y="21579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أدوار مستخدم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79792" y="25420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تحكم مخصصة لكل دور: مستخدم، مطعم، جمعية، مدير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" y="3520440"/>
            <a:ext cx="576072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3520440"/>
            <a:ext cx="256032" cy="2103120"/>
          </a:xfrm>
          <a:prstGeom prst="roundRect">
            <a:avLst>
              <a:gd name="adj" fmla="val 35714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04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481328" y="368503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1481328" y="44897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مشكلة تحليل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81328" y="487375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flutter analyze يُرجع 0 issues — كود نظيف بالكامل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9632" y="3520440"/>
            <a:ext cx="576072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3520440"/>
            <a:ext cx="256032" cy="2103120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547104" y="3904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479792" y="368503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7479792" y="44897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مزايا ذكية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79792" y="487375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QR، Chatbot، GPS، فلترة، باقة غامضة، حساسية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5852160"/>
            <a:ext cx="11731752" cy="530352"/>
          </a:xfrm>
          <a:prstGeom prst="roundRect">
            <a:avLst>
              <a:gd name="adj" fmla="val 17241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5888736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النظام مُختبَر ويعمل بشكل كامل على بيئة إنتاجية حقيقية مع Firebase + Cloudinary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العمل المستقبلي  |  Future Work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خطة التطوير والتحسينات المستقبلية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1168" y="1188720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" y="1225296"/>
            <a:ext cx="822960" cy="1444752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" y="15361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52144" y="1280160"/>
            <a:ext cx="4718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ذكاء اصطناعي حقيقي في الـ Chatbot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" y="1719072"/>
            <a:ext cx="47183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ربط المساعد الذكي بـ LLM API (مثل GPT أو Claude) لإجابات مرنة وتوصيات ذكية بدلاً من rule-based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188720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225296"/>
            <a:ext cx="822960" cy="1444752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5361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50608" y="1280160"/>
            <a:ext cx="4718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بوابة دفع إلكتروني حقيقية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50608" y="1719072"/>
            <a:ext cx="47183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تكامل مع Stripe أو HyperPay لمعالجة مدفوعات فعلية — حالياً يدعم اختيار طريقة الدفع فقط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" y="2907792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37744" y="2944368"/>
            <a:ext cx="822960" cy="1444752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" y="325526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152144" y="2999232"/>
            <a:ext cx="4718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خرائط تفاعلية للعروض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52144" y="3438144"/>
            <a:ext cx="47183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عرض جميع العروض على خريطة flutter_map تفاعلية مع التنقل التلقائي لأقرب عرض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99632" y="2907792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36208" y="2944368"/>
            <a:ext cx="822960" cy="1444752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236208" y="325526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150608" y="2999232"/>
            <a:ext cx="4718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تقارير متقدمة وإحصاءات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50608" y="3438144"/>
            <a:ext cx="47183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بيانات تحليلية: كميات الطعام المنقذة بالكيلوغرام، معدلات التقييم، مناطق الأكثر نشاطاً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" y="4626864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37744" y="4663440"/>
            <a:ext cx="822960" cy="1444752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237744" y="497433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152144" y="4718304"/>
            <a:ext cx="4718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تطبيق ويب كامل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52144" y="5157216"/>
            <a:ext cx="47183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Flutter Web dashboard للمطاعم والجمعيات بدلاً من الاعتماد على التطبيق فقط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99632" y="4626864"/>
            <a:ext cx="5760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4663440"/>
            <a:ext cx="822960" cy="1444752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497433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150608" y="4718304"/>
            <a:ext cx="4718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إشعارات ذكية ومجدولة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150608" y="5157216"/>
            <a:ext cx="47183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تذكيرات للاستلام قبل انتهاء وقت العرض، إشعار تلقائي للمستخدمين القريبين من عرض جديد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0"/>
            <a:ext cx="1209751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"/>
            <a:ext cx="1173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الخلاصة  |  Conclusion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" y="6510528"/>
            <a:ext cx="1209751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6510528"/>
            <a:ext cx="12097512" cy="228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|  منصة إنقاذ الطعام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02552" y="654710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جامعة بيرزيت  |  مشروع التخرج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694944"/>
            <a:ext cx="11457432" cy="5733288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" y="694944"/>
            <a:ext cx="1138428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6108" y="1225296"/>
            <a:ext cx="1316736" cy="13167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36108" y="1399032"/>
            <a:ext cx="13167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زاد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" y="2706624"/>
            <a:ext cx="10360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يحل مشكلة هدر الطعام من ثلاث زوايا في آنٍ واحد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3836" y="3493008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73836" y="347472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22476" y="3419856"/>
            <a:ext cx="8686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المطعم ينقذ ماله ويقلل الهدر بنشر عروض وباقات فائضة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73836" y="4297680"/>
            <a:ext cx="438912" cy="43891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973836" y="4279392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22476" y="4224528"/>
            <a:ext cx="8686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المستخدم يحصل على طعام جيد بسعر رمزي أو مجاناً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73836" y="510235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973836" y="508406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22476" y="5029200"/>
            <a:ext cx="8686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الجمعيات الخيرية تستقبل التبرعات المنظمة وتوزعها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4400" y="5742432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"نظام واحد، أمان كامل، أثر حقيقي"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31352" y="3200400"/>
            <a:ext cx="5486400" cy="5486400"/>
          </a:xfrm>
          <a:prstGeom prst="ellipse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265676" y="3657600"/>
            <a:ext cx="4572000" cy="4572000"/>
          </a:xfrm>
          <a:prstGeom prst="ellipse">
            <a:avLst/>
          </a:prstGeom>
          <a:solidFill>
            <a:srgbClr val="34D399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594360"/>
            <a:ext cx="8897112" cy="544068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82496" y="594360"/>
            <a:ext cx="8823960" cy="91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91440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شكراً جزيلاً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8531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808476" y="2395728"/>
            <a:ext cx="4572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542032"/>
            <a:ext cx="8531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جاهزون للإجابة عن أسئلتكم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1680" y="3154680"/>
            <a:ext cx="2606040" cy="160020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22092" y="3163824"/>
            <a:ext cx="585216" cy="5852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3246120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84832" y="3785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رهف زيادة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84832" y="413308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1221253  |  Flutter Developer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64608" y="3154680"/>
            <a:ext cx="2606040" cy="160020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75020" y="3163824"/>
            <a:ext cx="585216" cy="5852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870448" y="3246120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785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هلا بريغيث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413308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1211002  |  UI/UX &amp; Backend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17536" y="3154680"/>
            <a:ext cx="2606040" cy="160020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27948" y="3163824"/>
            <a:ext cx="585216" cy="5852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723376" y="3246120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90688" y="3785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ساديل إرحيمي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90688" y="413308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1211299  |  System Analyst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864608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المشرفة: د. نعيمة هرباوي  |  جامعة بيرزيت  |  2025–2026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6400800"/>
            <a:ext cx="11640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ZAD  —  منصة إنقاذ الطعام  |  Surplus Food Rescue Platform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ZAD — منصة إنقاذ الطعام</dc:title>
  <dc:subject>مشروع التخرج 2025–2026</dc:subject>
  <dc:creator>Rahaf Ziyadeh, Hala Brieghieth, Sadeel Irhimi</dc:creator>
  <cp:lastModifiedBy>Rahaf Ziyadeh, Hala Brieghieth, Sadeel Irhimi</cp:lastModifiedBy>
  <cp:revision>1</cp:revision>
  <dcterms:created xsi:type="dcterms:W3CDTF">2026-07-08T22:44:08Z</dcterms:created>
  <dcterms:modified xsi:type="dcterms:W3CDTF">2026-07-08T22:44:08Z</dcterms:modified>
</cp:coreProperties>
</file>